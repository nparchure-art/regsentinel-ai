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1A3A"/>
          </a:solidFill>
          <a:ln w="12700">
            <a:solidFill>
              <a:srgbClr val="001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vs Production — Where Inputs Come From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5394960" cy="5577840"/>
          </a:xfrm>
          <a:prstGeom prst="roundRect">
            <a:avLst>
              <a:gd name="adj" fmla="val 1695"/>
            </a:avLst>
          </a:prstGeom>
          <a:solidFill>
            <a:srgbClr val="05305E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78992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789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111556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1572768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001A3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719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⌨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78992" y="164592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 free text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78992" y="195681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description — no validation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02920" y="2441448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001A3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87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🔘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78992" y="251460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example buttons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8992" y="282549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preset descriptions baked into JSX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310128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001A3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456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78992" y="33832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CMDB (8 fake assets)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78992" y="369417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JS object inside the file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02920" y="4178808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001A3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4325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78992" y="425196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incident timer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78992" y="456285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events every 8–15 seconds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02920" y="5047488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001A3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5193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78992" y="51206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text in system prompt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78992" y="5431536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+ AI Act articles baked in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806440" y="320040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C8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687568" y="370332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C8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C8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400800" y="960120"/>
            <a:ext cx="5394960" cy="5577840"/>
          </a:xfrm>
          <a:prstGeom prst="roundRect">
            <a:avLst>
              <a:gd name="adj" fmla="val 1695"/>
            </a:avLst>
          </a:prstGeom>
          <a:solidFill>
            <a:srgbClr val="05305E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537960" y="1078992"/>
            <a:ext cx="1783080" cy="347472"/>
          </a:xfrm>
          <a:prstGeom prst="roundRect">
            <a:avLst>
              <a:gd name="adj" fmla="val 13158"/>
            </a:avLst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07899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58200" y="1115568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State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37960" y="1572768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001A3A"/>
          </a:solidFill>
          <a:ln w="12700">
            <a:solidFill>
              <a:srgbClr val="00869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9400" y="171907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🔌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14032" y="16459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CMDB REST API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114032" y="195681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/api/now/table/cmdb_ci · Live asset registry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37960" y="2441448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001A3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29400" y="258775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🤖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114032" y="251460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AI Governance Registry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7114032" y="282549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db-ai-registry.internal · All deployed models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537960" y="3310128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001A3A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9400" y="345643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7114032" y="338328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BaFin / EBA / ECB Live Feed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14032" y="369417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updates via official APIs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537960" y="4178808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001A3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29400" y="43251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7114032" y="42519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Azure Monitor + SWIFT Webhooks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114032" y="456285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incident push → auto-trigger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537960" y="5047488"/>
            <a:ext cx="5120640" cy="749808"/>
          </a:xfrm>
          <a:prstGeom prst="roundRect">
            <a:avLst>
              <a:gd name="adj" fmla="val 7317"/>
            </a:avLst>
          </a:prstGeom>
          <a:solidFill>
            <a:srgbClr val="001A3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9400" y="51937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</a:t>
            </a:r>
            <a:endParaRPr lang="en-US" sz="1600" dirty="0"/>
          </a:p>
        </p:txBody>
      </p:sp>
      <p:sp>
        <p:nvSpPr>
          <p:cNvPr id="53" name="Text 51"/>
          <p:cNvSpPr/>
          <p:nvPr/>
        </p:nvSpPr>
        <p:spPr>
          <a:xfrm>
            <a:off x="7114032" y="51206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EUR-Lex Weekly Sync Job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114032" y="543153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Regulation text auto-updated in system prompt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274320" y="665683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Data Flow Architecture  ·  Deutsche Bank Global Hackathon 2026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C8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FLOW-BY-FLOW DATA 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Feeds Each RegSentinel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1430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14300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 Flow 1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057400" y="117043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Classifier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5361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8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INPUT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 description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794760" y="15361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8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INPUT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794760" y="17190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AI Registry → model name, type, purpose, owner, deployment region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086600" y="153619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(BOTH)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7086600" y="171907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+ AI Act article mappings baked into Claude system prompt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02920" y="2359152"/>
            <a:ext cx="11155680" cy="201168"/>
          </a:xfrm>
          <a:prstGeom prst="roundRect">
            <a:avLst>
              <a:gd name="adj" fmla="val 18182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35915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OUTPUT: Risk tier + controls → AI Governance Portal write-back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11430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00869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292608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00869A"/>
          </a:solidFill>
          <a:ln w="12700">
            <a:solidFill>
              <a:srgbClr val="0086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292608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🛡  Flow 2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057400" y="29535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ICT Risk Mapper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331927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8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INPUT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02920" y="35021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types asset name + selects type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794760" y="331927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8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INPUT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794760" y="35021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CMDB → asset metadata: owner, vendor, incidents, SLA breaches, open vulns, region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086600" y="331927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(BOTH)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7086600" y="350215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DORA resilience pillar logic in Claude system prompt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02920" y="4142232"/>
            <a:ext cx="11155680" cy="201168"/>
          </a:xfrm>
          <a:prstGeom prst="roundRect">
            <a:avLst>
              <a:gd name="adj" fmla="val 18182"/>
            </a:avLst>
          </a:prstGeom>
          <a:solidFill>
            <a:srgbClr val="00869A"/>
          </a:solidFill>
          <a:ln w="12700">
            <a:solidFill>
              <a:srgbClr val="0086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414223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OUTPUT: 5-pillar RAG assessment → ServiceNow remediation task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572000"/>
            <a:ext cx="11430000" cy="1627632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2920" y="4709160"/>
            <a:ext cx="1417320" cy="438912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709160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Flow 3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057400" y="4736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Dual-Framework Overlap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" y="51023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D48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 INPUT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502920" y="52852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selects asset / clicks example preset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94760" y="51023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2D865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INPUT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3794760" y="52852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Auto-triggered by webhook: ServiceNow P1/P2 → RegSentinel endpoint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5102352"/>
            <a:ext cx="3200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spc="100" kern="0" dirty="0">
                <a:solidFill>
                  <a:srgbClr val="00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(BOTH)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7086600" y="5285232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CMDB metadata + DORA scope flag + isAI flag injected into prompt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02920" y="5925312"/>
            <a:ext cx="11155680" cy="201168"/>
          </a:xfrm>
          <a:prstGeom prst="roundRect">
            <a:avLst>
              <a:gd name="adj" fmla="val 18182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5925312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 OUTPUT: Overlap detection → unified plan → CISO / ITAO Teams alert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74320" y="665683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Data Flow Architecture  ·  Deutsche Bank Global Hackathon 2026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01A3A"/>
          </a:solidFill>
          <a:ln w="12700">
            <a:solidFill>
              <a:srgbClr val="001A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0972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86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UPGRADE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4 Lines — Go Live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8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API → Real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98448"/>
            <a:ext cx="6858000" cy="4526280"/>
          </a:xfrm>
          <a:prstGeom prst="roundRect">
            <a:avLst>
              <a:gd name="adj" fmla="val 1616"/>
            </a:avLst>
          </a:prstGeom>
          <a:solidFill>
            <a:srgbClr val="0A1628"/>
          </a:solidFill>
          <a:ln w="12700">
            <a:solidFill>
              <a:srgbClr val="0086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4475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Line 1 — ServiceNow CMDB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48640" y="169164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assets = await fetch(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'https://yourinstance.service-now.com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48640" y="2185416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/api/now/table/cmdb_ci');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48640" y="2432304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267919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Line 2 — DB AI Registry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48640" y="292608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aiSystems = await fetch(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48640" y="317296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'https://db-ai-registry.internal/api/systems');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419856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48640" y="3666744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Line 3 — BaFin Regulatory Feed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91363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 feed = await fetch(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48640" y="416052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DD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'https://www.bafin.de/api/regulatory-updates');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48640" y="4407408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" y="4654296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Line 4 — ServiceNow Write-back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48640" y="4901184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await fetch(servicenow_url, {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48640" y="5148072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method: 'POST', body: JSON.stringify(result)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5394960"/>
            <a:ext cx="6583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406640" y="1298448"/>
            <a:ext cx="4480560" cy="1005840"/>
          </a:xfrm>
          <a:prstGeom prst="roundRect">
            <a:avLst>
              <a:gd name="adj" fmla="val 6364"/>
            </a:avLst>
          </a:prstGeom>
          <a:solidFill>
            <a:srgbClr val="05305E"/>
          </a:solidFill>
          <a:ln w="12700">
            <a:solidFill>
              <a:srgbClr val="0086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16368" y="1408176"/>
            <a:ext cx="384048" cy="347472"/>
          </a:xfrm>
          <a:prstGeom prst="roundRect">
            <a:avLst>
              <a:gd name="adj" fmla="val 10526"/>
            </a:avLst>
          </a:prstGeom>
          <a:solidFill>
            <a:srgbClr val="00869A"/>
          </a:solidFill>
          <a:ln w="12700">
            <a:solidFill>
              <a:srgbClr val="00869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16368" y="140817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991856" y="1408176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CMDB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516368" y="1773936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REST: /api/now/table/cmdb_ci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Auth: OAuth 2.0 or Basic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name, type, owner, vendor, criticality, incidents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406640" y="2414016"/>
            <a:ext cx="4480560" cy="1005840"/>
          </a:xfrm>
          <a:prstGeom prst="roundRect">
            <a:avLst>
              <a:gd name="adj" fmla="val 6364"/>
            </a:avLst>
          </a:prstGeom>
          <a:solidFill>
            <a:srgbClr val="05305E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16368" y="2523744"/>
            <a:ext cx="384048" cy="347472"/>
          </a:xfrm>
          <a:prstGeom prst="roundRect">
            <a:avLst>
              <a:gd name="adj" fmla="val 10526"/>
            </a:avLst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16368" y="252374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991856" y="252374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AI Registry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516368" y="2889504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endpoint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Lists all deployed AI models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Fields: purpose, owner, region, risk_flags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7406640" y="3529584"/>
            <a:ext cx="4480560" cy="1005840"/>
          </a:xfrm>
          <a:prstGeom prst="roundRect">
            <a:avLst>
              <a:gd name="adj" fmla="val 6364"/>
            </a:avLst>
          </a:prstGeom>
          <a:solidFill>
            <a:srgbClr val="05305E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516368" y="3639312"/>
            <a:ext cx="384048" cy="347472"/>
          </a:xfrm>
          <a:prstGeom prst="roundRect">
            <a:avLst>
              <a:gd name="adj" fmla="val 10526"/>
            </a:avLst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16368" y="363931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991856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BaFin / ECB / EBA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516368" y="4005072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regulatory APIs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EUR-Lex for full act text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Weekly sync job → system prompt update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406640" y="4645152"/>
            <a:ext cx="4480560" cy="1005840"/>
          </a:xfrm>
          <a:prstGeom prst="roundRect">
            <a:avLst>
              <a:gd name="adj" fmla="val 6364"/>
            </a:avLst>
          </a:prstGeom>
          <a:solidFill>
            <a:srgbClr val="05305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516368" y="4754880"/>
            <a:ext cx="384048" cy="347472"/>
          </a:xfrm>
          <a:prstGeom prst="roundRect">
            <a:avLst>
              <a:gd name="adj" fmla="val 1052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516368" y="47548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991856" y="475488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Write-back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516368" y="5120640"/>
            <a:ext cx="4251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/api/now/table/task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Auto-assigns to asset owner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ticket ID (SNW-XXXXX)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365760" y="5943600"/>
            <a:ext cx="11430000" cy="566928"/>
          </a:xfrm>
          <a:prstGeom prst="roundRect">
            <a:avLst>
              <a:gd name="adj" fmla="val 11290"/>
            </a:avLst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5943600"/>
            <a:ext cx="111556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The Mock API is a structural drop-in. Same function signatures, same return shapes. Zero frontend changes required — swap the data source, not the architecture.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274320" y="665683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Data Flow Architecture  ·  Deutsche Bank Global Hackathon 2026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F0F4FA"/>
          </a:solidFill>
          <a:ln w="12700">
            <a:solidFill>
              <a:srgbClr val="F0F4F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384048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→ Auto-Trigger → Unified Plan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70432"/>
            <a:ext cx="475488" cy="47548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🔥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175564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Fires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084832"/>
            <a:ext cx="3246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P1/P2 incident created in ServiceNow, Azure Monitor, or SWIFT Alliance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023360" y="18745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4206240" y="10058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89120" y="1170432"/>
            <a:ext cx="475488" cy="475488"/>
          </a:xfrm>
          <a:prstGeom prst="ellipse">
            <a:avLst/>
          </a:prstGeom>
          <a:solidFill>
            <a:srgbClr val="D4820A"/>
          </a:solidFill>
          <a:ln w="12700">
            <a:solidFill>
              <a:srgbClr val="D4820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983480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89120" y="175564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Push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2084832"/>
            <a:ext cx="3246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system HTTP POSTs incident payload to RegSentinel /webhook endpoint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187452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482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8046720" y="100584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0086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0" y="1170432"/>
            <a:ext cx="475488" cy="475488"/>
          </a:xfrm>
          <a:prstGeom prst="ellipse">
            <a:avLst/>
          </a:prstGeom>
          <a:solidFill>
            <a:srgbClr val="00869A"/>
          </a:solidFill>
          <a:ln w="12700">
            <a:solidFill>
              <a:srgbClr val="0086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0" y="11704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823960" y="1170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8229600" y="175564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Lookup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0" y="2084832"/>
            <a:ext cx="3246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fetches full asset metadata from ServiceNow CMDB using asset ID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832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547872"/>
            <a:ext cx="475488" cy="47548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3547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14300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48640" y="413308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Check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48640" y="4462272"/>
            <a:ext cx="3246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doraScope + isAI flags — if both true, auto-routes to Overlap Engine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023360" y="42519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4206240" y="33832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89120" y="3547872"/>
            <a:ext cx="475488" cy="475488"/>
          </a:xfrm>
          <a:prstGeom prst="ellipse">
            <a:avLst/>
          </a:prstGeom>
          <a:solidFill>
            <a:srgbClr val="C8922A"/>
          </a:solidFill>
          <a:ln w="12700">
            <a:solidFill>
              <a:srgbClr val="C8922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389120" y="3547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98348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🧠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4389120" y="413308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Analyses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389120" y="4462272"/>
            <a:ext cx="3246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CMDB metadata injected into Overlap Engine prompt — unified plan generated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863840" y="4251960"/>
            <a:ext cx="164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892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8046720" y="3383280"/>
            <a:ext cx="361188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29600" y="3547872"/>
            <a:ext cx="475488" cy="475488"/>
          </a:xfrm>
          <a:prstGeom prst="ellipse">
            <a:avLst/>
          </a:prstGeom>
          <a:solidFill>
            <a:srgbClr val="2D8653"/>
          </a:solidFill>
          <a:ln w="12700">
            <a:solidFill>
              <a:srgbClr val="2D865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0" y="35478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823960" y="354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2000" dirty="0"/>
          </a:p>
        </p:txBody>
      </p:sp>
      <p:sp>
        <p:nvSpPr>
          <p:cNvPr id="43" name="Text 41"/>
          <p:cNvSpPr/>
          <p:nvPr/>
        </p:nvSpPr>
        <p:spPr>
          <a:xfrm>
            <a:off x="8229600" y="4133088"/>
            <a:ext cx="3246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Write-back &amp; Alert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0" y="4462272"/>
            <a:ext cx="32461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ServiceNow task created, CISO / ITAO notified via Teams, audit trail written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897880" y="3218688"/>
            <a:ext cx="365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365760" y="5961888"/>
            <a:ext cx="11430000" cy="548640"/>
          </a:xfrm>
          <a:prstGeom prst="roundRect">
            <a:avLst>
              <a:gd name="adj" fmla="val 11667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" y="5961888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1A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The auto-trigger is the hackathon differentiator: when a P1 fires on a dual-scope AI system, RegSentinel detects the DORA + AI Act overlap and generates the unified plan before a human even opens the incident ticket.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74320" y="6656832"/>
            <a:ext cx="116128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99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RegSentinel AI  ·  Data Flow Architecture  ·  Deutsche Bank Global Hackathon 2026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2026-07-21T10:16:41Z</dcterms:created>
  <dcterms:modified xsi:type="dcterms:W3CDTF">2026-07-21T10:16:41Z</dcterms:modified>
</cp:coreProperties>
</file>