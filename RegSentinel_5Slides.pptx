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828800"/>
            <a:ext cx="5303520" cy="5303520"/>
          </a:xfrm>
          <a:prstGeom prst="ellipse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235440" y="-1188720"/>
            <a:ext cx="3840480" cy="3840480"/>
          </a:xfrm>
          <a:prstGeom prst="ellipse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822960" y="5394960"/>
            <a:ext cx="2743200" cy="2743200"/>
          </a:xfrm>
          <a:prstGeom prst="ellipse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47472"/>
            <a:ext cx="658368" cy="475488"/>
          </a:xfrm>
          <a:prstGeom prst="rect">
            <a:avLst/>
          </a:prstGeom>
          <a:solidFill>
            <a:srgbClr val="3A8FCC"/>
          </a:solidFill>
          <a:ln w="12700">
            <a:solidFill>
              <a:srgbClr val="3A8F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47472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61872" y="43891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DEUTSCHE BANK  ·  GLOBAL HACKATHON 2026  ·  RISK &amp; COMPLIANCE TRACK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7772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69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EU Compliance Workstation  ·  by ByteBrigade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955279" y="3520440"/>
            <a:ext cx="4023360" cy="2834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ByteBrigade</a:t>
            </a:r>
          </a:p>
          <a:p>
            <a:pPr marL="0" indent="0">
              <a:spcBef>
                <a:spcPts val="120"/>
              </a:spcBef>
              <a:buNone/>
            </a:pPr>
            <a:r>
              <a:rPr lang="en-US" sz="14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Yadav</a:t>
            </a:r>
          </a:p>
          <a:p>
            <a:pPr marL="0" indent="0">
              <a:spcBef>
                <a:spcPts val="120"/>
              </a:spcBef>
              <a:buNone/>
            </a:pPr>
            <a:r>
              <a:rPr lang="en-US" sz="14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Jatin Madaan</a:t>
            </a:r>
          </a:p>
          <a:p>
            <a:pPr marL="0" indent="0">
              <a:spcBef>
                <a:spcPts val="120"/>
              </a:spcBef>
              <a:buNone/>
            </a:pPr>
            <a:r>
              <a:rPr lang="en-US" sz="14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 Parchure</a:t>
            </a:r>
          </a:p>
          <a:p>
            <a:pPr marL="0" indent="0">
              <a:spcBef>
                <a:spcPts val="120"/>
              </a:spcBef>
              <a:buNone/>
            </a:pPr>
            <a:r>
              <a:rPr lang="en-US" sz="14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Ripu Lal</a:t>
            </a:r>
          </a:p>
          <a:p>
            <a:pPr marL="0" indent="0">
              <a:spcBef>
                <a:spcPts val="120"/>
              </a:spcBef>
              <a:buNone/>
            </a:pPr>
            <a:r>
              <a:rPr lang="en-US" sz="14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Saurabh Jain</a:t>
            </a:r>
          </a:p>
          <a:p>
            <a:pPr marL="0" indent="0">
              <a:spcBef>
                <a:spcPts val="120"/>
              </a:spcBef>
              <a:buNone/>
            </a:pPr>
            <a:r>
              <a:rPr lang="en-US" sz="14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Tushar Bholane</a:t>
            </a:r>
          </a:p>
        </p:txBody>
      </p:sp>
      <p:sp>
        <p:nvSpPr>
          <p:cNvPr id="13" name="Shape 11"/>
          <p:cNvSpPr/>
          <p:nvPr/>
        </p:nvSpPr>
        <p:spPr>
          <a:xfrm>
            <a:off x="457200" y="4187952"/>
            <a:ext cx="217627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4187952"/>
            <a:ext cx="2176272" cy="73152"/>
          </a:xfrm>
          <a:prstGeom prst="rect">
            <a:avLst/>
          </a:prstGeom>
          <a:solidFill>
            <a:srgbClr val="0069B1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315968"/>
            <a:ext cx="2176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69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8,000+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200" y="4901184"/>
            <a:ext cx="2176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entities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DORA scope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834640" y="4187952"/>
            <a:ext cx="217627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1E2A78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834640" y="4187952"/>
            <a:ext cx="2176272" cy="73152"/>
          </a:xfrm>
          <a:prstGeom prst="rect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4640" y="4315968"/>
            <a:ext cx="2176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2834640" y="4901184"/>
            <a:ext cx="2176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high-risk deadline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12080" y="4187952"/>
            <a:ext cx="217627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0" y="4187952"/>
            <a:ext cx="2176272" cy="73152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4315968"/>
            <a:ext cx="2176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€200M+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5212080" y="4901184"/>
            <a:ext cx="21762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RegTech TAM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could own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5833872"/>
            <a:ext cx="7132320" cy="475488"/>
          </a:xfrm>
          <a:prstGeom prst="roundRect">
            <a:avLst>
              <a:gd name="adj" fmla="val 15385"/>
            </a:avLst>
          </a:prstGeom>
          <a:solidFill>
            <a:srgbClr val="0069B1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833872"/>
            <a:ext cx="7132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🌐  Live at: https://reg-sentinel-bumble-b-685865318522.europe-west1.run.app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400800"/>
            <a:ext cx="7132320" cy="347472"/>
          </a:xfrm>
          <a:prstGeom prst="roundRect">
            <a:avLst>
              <a:gd name="adj" fmla="val 15789"/>
            </a:avLst>
          </a:prstGeom>
          <a:solidFill>
            <a:srgbClr val="EBF2FA"/>
          </a:solidFill>
          <a:ln w="12700">
            <a:solidFill>
              <a:srgbClr val="B0C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400800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Powering the European Champion of the Future of AI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665683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  ·  Deutsche Bank Global Hackathon 2026  ·  https://reg-sentinel-bumble-b-685865318522.europe-west1.run.app  ·  Slide 1 of 5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solidFill>
            <a:srgbClr val="3A8FCC"/>
          </a:solidFill>
          <a:ln w="12700">
            <a:solidFill>
              <a:srgbClr val="3A8F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46888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A8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SOLUTION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3000" y="457200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Compliance Gap — And How RegSentinel Closes It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2801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Frameworks. One Hidden Risk.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30352" y="19476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0069B1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9476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DORA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197510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 (EU) 2022/2554 · In force Jan 2025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0352" y="24323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ICT Risk Management — board accountable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0352" y="2743200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Incident reporting to BaFin within 4 hours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0352" y="3054096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TLPT every 3 years for significant entities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" y="3364992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Third-party ICT risk — CTPPs in scope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639312"/>
            <a:ext cx="5074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9B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Fine: up to 2% global turnover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050792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1E2A78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0352" y="418795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41879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EU AI ACT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57400" y="4215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 (EU) 2024/1689 · High-risk: Aug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0352" y="467258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Credit scoring → HIGH RISK (Annex III)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983480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Conformity assessment before deployment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" y="5294376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Immutable audit trail required (Art. 12)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0352" y="5605272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Human-in-the-loop oversight mandatory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" y="5879592"/>
            <a:ext cx="5074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A7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Fine: up to 3% global turnover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989320" y="1097280"/>
            <a:ext cx="18288" cy="5577840"/>
          </a:xfrm>
          <a:prstGeom prst="rect">
            <a:avLst/>
          </a:prstGeom>
          <a:solidFill>
            <a:srgbClr val="B0CCE8"/>
          </a:solidFill>
          <a:ln w="12700">
            <a:solidFill>
              <a:srgbClr val="B0C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078992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A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 CLOSES THE GAP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17920" y="128016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tool. Both frameworks. The intersection solved.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17920" y="1810512"/>
            <a:ext cx="5577840" cy="1005840"/>
          </a:xfrm>
          <a:prstGeom prst="roundRect">
            <a:avLst>
              <a:gd name="adj" fmla="val 9091"/>
            </a:avLst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19385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903720" y="19202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8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RISK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03720" y="224942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D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credit scoring AI is simultaneously a DORA-critical ICT asset AND an EU AI Act high-risk system. No single tool manages this intersection today.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17920" y="2971800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55080" y="30815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876288" y="304495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NAR Portal Lookup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76288" y="333756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APP-XXXX → live application profile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3721608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383133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876288" y="379476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WALTZ Data Flows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876288" y="408736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&amp; logical upstream/downstream map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4471416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458114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876288" y="45445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ServiceNow Incidents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876288" y="4837176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&amp; AI Act flags auto-assigned per incident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217920" y="5221224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55080" y="533095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876288" y="5294376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Overlap Detection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76288" y="558698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dual-framework scope in real time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217920" y="597103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55080" y="60807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876288" y="6044184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AI Reg Analysis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76288" y="6336792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3-call Claude API → unified remediation plan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274320" y="665683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  ·  Deutsche Bank Global Hackathon 2026  ·  https://reg-sentinel-bumble-b-685865318522.europe-west1.run.app  ·  Slide 2 of 5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solidFill>
            <a:srgbClr val="3A8FCC"/>
          </a:solidFill>
          <a:ln w="12700">
            <a:solidFill>
              <a:srgbClr val="3A8F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46888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A8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APPLICATION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3000" y="457200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Steps from App ID to Regulatory Action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1024128"/>
            <a:ext cx="11430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9B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🌐  https://reg-sentinel-bumble-b-685865318522.europe-west1.run.app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51560" y="3063240"/>
            <a:ext cx="10104120" cy="36576"/>
          </a:xfrm>
          <a:prstGeom prst="rect">
            <a:avLst/>
          </a:prstGeom>
          <a:solidFill>
            <a:srgbClr val="B0CCE8"/>
          </a:solidFill>
          <a:ln w="12700">
            <a:solidFill>
              <a:srgbClr val="B0CC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508760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1E2A78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" y="1572768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any Application ID (e.g. APP-2841, APP-1193, APP-3307) or any APP-XXXX to generate a realistic mock profile.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68680" y="2761488"/>
            <a:ext cx="1005840" cy="1005840"/>
          </a:xfrm>
          <a:prstGeom prst="ellipse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6148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65760" y="391363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2A78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STEP 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413308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 Portal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" y="4553712"/>
            <a:ext cx="1901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apps load real data; unknown IDs auto-generate via seeded RNG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322576" y="290779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633472" y="1508760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61488" y="1572768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overview with AI components flagged for EU AI Act scope. Tech stack, infrastructure, SLA, certifications.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36392" y="2761488"/>
            <a:ext cx="1005840" cy="1005840"/>
          </a:xfrm>
          <a:prstGeom prst="ellipse">
            <a:avLst/>
          </a:prstGeom>
          <a:solidFill>
            <a:srgbClr val="0069B1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6392" y="276148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📂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633472" y="391363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069B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STEP 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33472" y="413308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Details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06624" y="4553712"/>
            <a:ext cx="1901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components automatically tagged as High-Risk under Annex III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90288" y="290779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901184" y="1508760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029200" y="1572768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&amp; logical data flow map. Upstream sources + downstream consumers with protocol and criticality ratings.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04104" y="2761488"/>
            <a:ext cx="1005840" cy="10058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04104" y="276148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901184" y="391363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E7C86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STEP 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01184" y="413308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WALTZ Flows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74336" y="4553712"/>
            <a:ext cx="1901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Art. 28-44 third-party risk auto-flagged on external providers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858000" y="290779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168896" y="1508760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296912" y="1572768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incident register. DORA and AI Act flags auto-assigned per incident category. P1/P2 severity tagging.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671816" y="2761488"/>
            <a:ext cx="1005840" cy="10058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71816" y="276148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7168896" y="391363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C0392B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STEP 4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68896" y="413308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242048" y="4553712"/>
            <a:ext cx="1901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incident row to trigger regulatory analysis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25712" y="290779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C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436608" y="1508760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1A7A4A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564624" y="1572768"/>
            <a:ext cx="1792224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Claude Sonnet API calls: DORA analysis → AI Act analysis → Unified remediation plan with deadlines.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939528" y="2761488"/>
            <a:ext cx="1005840" cy="1005840"/>
          </a:xfrm>
          <a:prstGeom prst="ellipse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39528" y="276148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9436608" y="3913632"/>
            <a:ext cx="20299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A7A4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STEP 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436608" y="4133088"/>
            <a:ext cx="20299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 Analysis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9509760" y="4553712"/>
            <a:ext cx="1901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6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Dual-framework overlap detection — the intersection no other tool surfaces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65760" y="5230368"/>
            <a:ext cx="11430000" cy="1353312"/>
          </a:xfrm>
          <a:prstGeom prst="roundRect">
            <a:avLst>
              <a:gd name="adj" fmla="val 6757"/>
            </a:avLst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5376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097280" y="532180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8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Innovation — The Overlap Engine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097280" y="5687568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CD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incident on a high-risk AI system also triggers DORA obligations, RegSentinel is the only tool that detects both simultaneously and generates a unified remediation plan under a single owner. Credit scoring AI flagged as both a DORA-critical ICT asset AND a high-risk EU AI Act system.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74320" y="665683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  ·  Deutsche Bank Global Hackathon 2026  ·  https://reg-sentinel-bumble-b-685865318522.europe-west1.run.app  ·  Slide 3 of 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solidFill>
            <a:srgbClr val="3A8FCC"/>
          </a:solidFill>
          <a:ln w="12700">
            <a:solidFill>
              <a:srgbClr val="3A8F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46888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A8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 TECHNOLOGY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3000" y="457200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RegSentinel AI Works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7472" y="1115568"/>
            <a:ext cx="3401568" cy="43159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" y="1261872"/>
            <a:ext cx="3218688" cy="438912"/>
          </a:xfrm>
          <a:prstGeom prst="roundRect">
            <a:avLst>
              <a:gd name="adj" fmla="val 12500"/>
            </a:avLst>
          </a:prstGeom>
          <a:solidFill>
            <a:srgbClr val="0069B1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26187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LAYER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0352" y="1847088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47088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CMDB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" y="2505456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505456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WALTZ System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0352" y="3163824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163824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 Portal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0352" y="3822192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822192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BaFin / ECB Feed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" y="4480560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4480560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Monitor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0352" y="5138928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5138928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Registry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959352" y="1115568"/>
            <a:ext cx="3401568" cy="43159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0792" y="1261872"/>
            <a:ext cx="3218688" cy="438912"/>
          </a:xfrm>
          <a:prstGeom prst="roundRect">
            <a:avLst>
              <a:gd name="adj" fmla="val 125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0792" y="126187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ENGINE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42232" y="1847088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42232" y="1847088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Classifier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42232" y="2505456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42232" y="2505456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Risk Mapper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42232" y="3163824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42232" y="3163824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Detector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42232" y="3822192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2232" y="3822192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Analyser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142232" y="4480560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2232" y="4480560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 Report Generator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71232" y="1115568"/>
            <a:ext cx="3401568" cy="43159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62672" y="1261872"/>
            <a:ext cx="3218688" cy="438912"/>
          </a:xfrm>
          <a:prstGeom prst="roundRect">
            <a:avLst>
              <a:gd name="adj" fmla="val 12500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62672" y="126187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LAYER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754112" y="1847088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54112" y="1847088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Dashboard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54112" y="2505456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54112" y="2505456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Tasks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54112" y="3163824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54112" y="3163824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Reports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54112" y="3822192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54112" y="3822192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(Immutable)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54112" y="4480560"/>
            <a:ext cx="3035808" cy="530352"/>
          </a:xfrm>
          <a:prstGeom prst="roundRect">
            <a:avLst>
              <a:gd name="adj" fmla="val 8621"/>
            </a:avLst>
          </a:prstGeom>
          <a:solidFill>
            <a:srgbClr val="EBF2F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54112" y="4480560"/>
            <a:ext cx="3035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ITAO Alerts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8862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50" name="Text 48"/>
          <p:cNvSpPr/>
          <p:nvPr/>
        </p:nvSpPr>
        <p:spPr>
          <a:xfrm>
            <a:off x="749808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51" name="Shape 49"/>
          <p:cNvSpPr/>
          <p:nvPr/>
        </p:nvSpPr>
        <p:spPr>
          <a:xfrm>
            <a:off x="347472" y="5577840"/>
            <a:ext cx="11466576" cy="987552"/>
          </a:xfrm>
          <a:prstGeom prst="roundRect">
            <a:avLst>
              <a:gd name="adj" fmla="val 9259"/>
            </a:avLst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6928" y="56509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ABBD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Frontend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66928" y="5925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· TypeScript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816352" y="56509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ABBD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AI Engine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816352" y="5925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4.6 · 3 sequential calls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65776" y="56509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ABBD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065776" y="5925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· WALTZ · NAR Portal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315200" y="56509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ABBD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Infrastructure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315200" y="5925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EU (Frankfurt · Amsterdam)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9564624" y="56509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AABBD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Coverage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9564624" y="592531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 Art. 5-45 · AI Act Art. 5-56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47472" y="5074920"/>
            <a:ext cx="11466576" cy="438912"/>
          </a:xfrm>
          <a:prstGeom prst="roundRect">
            <a:avLst>
              <a:gd name="adj" fmla="val 12500"/>
            </a:avLst>
          </a:prstGeom>
          <a:solidFill>
            <a:srgbClr val="D6E8F5"/>
          </a:solidFill>
          <a:ln w="12700">
            <a:solidFill>
              <a:srgbClr val="B0C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5074920"/>
            <a:ext cx="11155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Sovereign Architecture: Azure EU Regions · No data egress outside EU · AI Act Art. 10 data governance compliant · Deployed on Cloud Run (europe-west1)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74320" y="665683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  ·  Deutsche Bank Global Hackathon 2026  ·  https://reg-sentinel-bumble-b-685865318522.europe-west1.run.app  ·  Slide 4 of 5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61520" cy="960120"/>
          </a:xfrm>
          <a:prstGeom prst="rect">
            <a:avLst/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solidFill>
            <a:srgbClr val="3A8FCC"/>
          </a:solidFill>
          <a:ln w="12700">
            <a:solidFill>
              <a:srgbClr val="3A8F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201168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46888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A8F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&amp; NEXT STEPS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3000" y="457200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Quantified Impact — Three Horizons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7472" y="1115568"/>
            <a:ext cx="3730752" cy="48463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1A7A4A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" y="1261872"/>
            <a:ext cx="3456432" cy="457200"/>
          </a:xfrm>
          <a:prstGeom prst="roundRect">
            <a:avLst>
              <a:gd name="adj" fmla="val 12000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126187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1  ·  0–12 Months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" y="1847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Value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0352" y="230428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Eliminates manual DORA/AI Act spreadsheet 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926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Cuts incident reporting time 4h → 30 minutes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35478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Reduces compliance FTE cost by ~40%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0352" y="41696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Avoids fine exposure: up to 5% total turnover risk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6072" y="4956048"/>
            <a:ext cx="3291840" cy="896112"/>
          </a:xfrm>
          <a:prstGeom prst="roundRect">
            <a:avLst>
              <a:gd name="adj" fmla="val 8163"/>
            </a:avLst>
          </a:prstGeom>
          <a:solidFill>
            <a:srgbClr val="1E2A78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4992624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~€80M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6072" y="54681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cost avoided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3730752" cy="48463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0069B1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16552" y="1261872"/>
            <a:ext cx="3456432" cy="457200"/>
          </a:xfrm>
          <a:prstGeom prst="roundRect">
            <a:avLst>
              <a:gd name="adj" fmla="val 12000"/>
            </a:avLst>
          </a:prstGeom>
          <a:solidFill>
            <a:srgbClr val="0069B1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16552" y="126187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2  ·  12–24 Months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62272" y="1847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 Platform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62272" y="230428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License to 50 EU banks (€200K–500K/year each)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62272" y="2926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DB becomes European RegTech standard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5478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SaaS model with minimal incremental cost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62272" y="41696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Proven internal use as reference case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07992" y="4956048"/>
            <a:ext cx="3291840" cy="896112"/>
          </a:xfrm>
          <a:prstGeom prst="roundRect">
            <a:avLst>
              <a:gd name="adj" fmla="val 8163"/>
            </a:avLst>
          </a:prstGeom>
          <a:solidFill>
            <a:srgbClr val="1E2A78"/>
          </a:solidFill>
          <a:ln w="12700">
            <a:solidFill>
              <a:srgbClr val="0069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07992" y="4992624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€25M+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507992" y="54681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 licensing revenue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211312" y="1115568"/>
            <a:ext cx="3730752" cy="48463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1E2A78"/>
            </a:solidFill>
            <a:prstDash val="solid"/>
          </a:ln>
          <a:effectLst>
            <a:outerShdw sx="100000" sy="100000" kx="0" ky="0" algn="bl" rotWithShape="0" blurRad="76200" dist="25400" dir="2700000">
              <a:srgbClr val="AABBCC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48472" y="1261872"/>
            <a:ext cx="3456432" cy="457200"/>
          </a:xfrm>
          <a:prstGeom prst="roundRect">
            <a:avLst>
              <a:gd name="adj" fmla="val 12000"/>
            </a:avLst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48472" y="126187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3  ·  24–36 Months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94192" y="1847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 Co-Creation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94192" y="230428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Co-develop standards with BaFin, ECB, EBA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394192" y="29260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RegSentinel becomes EU reference implementation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394192" y="354787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Advisory revenues on compliance transformation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94192" y="41696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18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G7/G20 European AI sovereignty leadership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39912" y="4956048"/>
            <a:ext cx="3291840" cy="896112"/>
          </a:xfrm>
          <a:prstGeom prst="roundRect">
            <a:avLst>
              <a:gd name="adj" fmla="val 8163"/>
            </a:avLst>
          </a:prstGeom>
          <a:solidFill>
            <a:srgbClr val="1E2A78"/>
          </a:solidFill>
          <a:ln w="12700">
            <a:solidFill>
              <a:srgbClr val="1E2A7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9912" y="4992624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€200M+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8439912" y="54681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RegTech TAM DB could own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47472" y="6080760"/>
            <a:ext cx="11466576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0C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612648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069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Try the app now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8640" y="63459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https://reg-sentinel-bumble-b-685865318522.europe-west1.run.app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343400" y="612648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E2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Source code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43400" y="63459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github.com/nparchure-art/regsentinel-ai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138160" y="612648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1A7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Start the Pilot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138160" y="63459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Private Banking Germany · Q3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74320" y="6656832"/>
            <a:ext cx="11612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RegSentinel AI  ·  Deutsche Bank Global Hackathon 2026  ·  https://reg-sentinel-bumble-b-685865318522.europe-west1.run.app  ·  Slide 5 of 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2026-07-24T06:50:20Z</dcterms:created>
  <dcterms:modified xsi:type="dcterms:W3CDTF">2026-07-24T06:50:20Z</dcterms:modified>
</cp:coreProperties>
</file>