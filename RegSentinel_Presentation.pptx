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84E"/>
          </a:solidFill>
          <a:ln w="12700">
            <a:solidFill>
              <a:srgbClr val="1618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2011680"/>
            <a:ext cx="5943600" cy="5943600"/>
          </a:xfrm>
          <a:prstGeom prst="ellipse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1371600"/>
            <a:ext cx="4389120" cy="4389120"/>
          </a:xfrm>
          <a:prstGeom prst="ellipse">
            <a:avLst/>
          </a:prstGeom>
          <a:solidFill>
            <a:srgbClr val="1A2260"/>
          </a:solidFill>
          <a:ln w="12700">
            <a:solidFill>
              <a:srgbClr val="1A22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097280" y="5303520"/>
            <a:ext cx="3200400" cy="3200400"/>
          </a:xfrm>
          <a:prstGeom prst="ellipse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658368" cy="475488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47548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8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DEUTSCHE BANK  ·  GLOBAL HACKATHON 2026  ·  RISK &amp; COMPLIANCE TRACK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Compliance Intelligence for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2724912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&amp; the EU AI Act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02920" y="3456432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compliance workstation that ingests live application data,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incidents to regulatory obligations, and generates actionable analysis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two of the EU's most demanding frameworks — simultaneously.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663440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1E2A7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77316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" y="537667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entities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DORA scope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07208" y="4663440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1E2A7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7208" y="477316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807208" y="537667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Act high-risk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11496" y="4663440"/>
            <a:ext cx="2148840" cy="1417320"/>
          </a:xfrm>
          <a:prstGeom prst="roundRect">
            <a:avLst>
              <a:gd name="adj" fmla="val 6452"/>
            </a:avLst>
          </a:prstGeom>
          <a:solidFill>
            <a:srgbClr val="1E2A7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11496" y="4773168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€200M+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111496" y="537667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RegTech TAM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could own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6291072"/>
            <a:ext cx="5943600" cy="411480"/>
          </a:xfrm>
          <a:prstGeom prst="roundRect">
            <a:avLst>
              <a:gd name="adj" fmla="val 17778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29107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Powering the European Champion of the Future of AI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1 of 12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5603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Story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43560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965960" y="14356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65960" y="1874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dual compliance storm no tool manages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312724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65960" y="31272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965960" y="35661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— five intelligent capabilities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80160" y="481888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965960" y="481888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Tech Stack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965960" y="525780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under the hood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123444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23760" y="143560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909560" y="143560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909560" y="18745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 from App ID to regulatory analysis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2926080"/>
            <a:ext cx="55778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23760" y="312724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909560" y="31272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Achieved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909560" y="356616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impact across three horizons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2 of 12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84E"/>
          </a:solidFill>
          <a:ln w="12700">
            <a:solidFill>
              <a:srgbClr val="1618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0123A"/>
          </a:solidFill>
          <a:ln w="12700">
            <a:solidFill>
              <a:srgbClr val="101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49377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Dual Compliance Storm — With No Unified Solution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0A1040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3444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81051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Operational Resilience Act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(EU) 2022/2554 · In force: Jan 2025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51460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ICT Risk Management — board accountability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999232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Incident reporting to BaFin within 4 hours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483864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Threat-Led Pen Testing every 3 years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968496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Third-party ICT oversight — CTPPs in scope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453128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Fine: up to 2% of global annual turnover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89320" y="1097280"/>
            <a:ext cx="5303520" cy="5029200"/>
          </a:xfrm>
          <a:prstGeom prst="roundRect">
            <a:avLst>
              <a:gd name="adj" fmla="val 1818"/>
            </a:avLst>
          </a:prstGeom>
          <a:solidFill>
            <a:srgbClr val="0C0D30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234440"/>
            <a:ext cx="1645920" cy="457200"/>
          </a:xfrm>
          <a:prstGeom prst="roundRect">
            <a:avLst>
              <a:gd name="adj" fmla="val 12000"/>
            </a:avLst>
          </a:prstGeom>
          <a:solidFill>
            <a:srgbClr val="1E2A78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1810512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10312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(EU) 2024/1689 · High-risk: Aug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26480" y="2514600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Credit scoring → classified HIGH RISK (Annex III)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26480" y="2999232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Mandatory conformity assessment &amp; audit logs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126480" y="3483864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Human-in-the-loop oversight required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126480" y="3968496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Bias monitoring &amp; explainability obligations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26480" y="4453128"/>
            <a:ext cx="5074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Fine: up to 3% of global annual turnover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6236208"/>
            <a:ext cx="10927080" cy="502920"/>
          </a:xfrm>
          <a:prstGeom prst="roundRect">
            <a:avLst>
              <a:gd name="adj" fmla="val 12727"/>
            </a:avLst>
          </a:prstGeom>
          <a:solidFill>
            <a:srgbClr val="6B0000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23620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THE HIDDEN RISK: A credit scoring AI is simultaneously a DORA-critical ICT asset AND an EU AI Act high-risk system. No single tool manages this intersection today. Banks use spreadsheets.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3 of 12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SCALE OF 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49377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Cannot Wait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43000"/>
            <a:ext cx="2651760" cy="73152"/>
          </a:xfrm>
          <a:prstGeom prst="rect">
            <a:avLst/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258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€15B+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75488" y="2148840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RegTech market by 2027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69748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at 18% YoY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18688" y="11430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1143000"/>
            <a:ext cx="265176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13258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328416" y="2148840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entities in DORA scope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28416" y="269748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require ICT compliance programmes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71616" y="11430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1143000"/>
            <a:ext cx="265176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13258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181344" y="2148840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DORA fine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81344" y="269748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total global annual turnover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24544" y="11430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24544" y="1143000"/>
            <a:ext cx="265176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24544" y="13258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9034272" y="2148840"/>
            <a:ext cx="245059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DORA + AI Act platforms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34272" y="2697480"/>
            <a:ext cx="24505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solution exists in the market today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794760"/>
            <a:ext cx="56235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15568" y="390448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&amp; Fragmented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15568" y="427024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rely on spreadsheets, siloed teams, and Big Four consultants charging €500K+ for gap assessments that are outdated before they're printed.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63640" y="3794760"/>
            <a:ext cx="56235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013448" y="390448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Frameworks, Zero Integration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13448" y="427024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and EU AI Act obligations are tracked separately. The intersection — where one AI system is in scope for both — remains a blind spot.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5212080"/>
            <a:ext cx="56235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5532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115568" y="532180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 Deadline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15568" y="568756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AI obligations apply in weeks. Credit scoring, AML surveillance, and robo-advisory platforms must all be compliant. Most are not.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3640" y="5212080"/>
            <a:ext cx="56235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8232" y="5532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💸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7013448" y="532180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Existential Fine Risk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13448" y="568756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major incident that breaches both DORA reporting and AI Act audit obligations could trigger fines exceeding 5% of global turnover simultaneously.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4 of 12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914400"/>
            <a:ext cx="4572000" cy="4572000"/>
          </a:xfrm>
          <a:prstGeom prst="ellipse">
            <a:avLst/>
          </a:prstGeom>
          <a:solidFill>
            <a:srgbClr val="162060"/>
          </a:solidFill>
          <a:ln w="12700">
            <a:solidFill>
              <a:srgbClr val="1620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029200"/>
            <a:ext cx="2743200" cy="2743200"/>
          </a:xfrm>
          <a:prstGeom prst="ellipse">
            <a:avLst/>
          </a:prstGeom>
          <a:solidFill>
            <a:srgbClr val="162060"/>
          </a:solidFill>
          <a:ln w="12700">
            <a:solidFill>
              <a:srgbClr val="162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A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88720" y="475488"/>
            <a:ext cx="10058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8720" y="987552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Compliance Intelligence — Five Capabilities, One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5760720" cy="1508760"/>
          </a:xfrm>
          <a:prstGeom prst="roundRect">
            <a:avLst>
              <a:gd name="adj" fmla="val 4848"/>
            </a:avLst>
          </a:prstGeom>
          <a:solidFill>
            <a:srgbClr val="101840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167335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8FC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16733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 Portal Lookup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2103120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any DB application by ID. Live CMDB integration pulls full asset metadata, tech stack, and infrastructure profile automatically.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5760720" cy="1508760"/>
          </a:xfrm>
          <a:prstGeom prst="roundRect">
            <a:avLst>
              <a:gd name="adj" fmla="val 4848"/>
            </a:avLst>
          </a:prstGeom>
          <a:solidFill>
            <a:srgbClr val="1018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33649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33649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WALTZ Data Flow Map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3794760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upstream/downstream dependency map via WALTZ integration. Auto-flags DORA Art. 28-44 third-party risk on external providers.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892040"/>
            <a:ext cx="5760720" cy="1508760"/>
          </a:xfrm>
          <a:prstGeom prst="roundRect">
            <a:avLst>
              <a:gd name="adj" fmla="val 4848"/>
            </a:avLst>
          </a:prstGeom>
          <a:solidFill>
            <a:srgbClr val="101840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303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50566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B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37360" y="505663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Incidents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37360" y="5486400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incident register with automatic DORA and AI Act flag classification. P1/P2 severity tagging with affected user counts.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1508760"/>
            <a:ext cx="5760720" cy="1508760"/>
          </a:xfrm>
          <a:prstGeom prst="roundRect">
            <a:avLst>
              <a:gd name="adj" fmla="val 4848"/>
            </a:avLst>
          </a:prstGeom>
          <a:solidFill>
            <a:srgbClr val="101840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60920" y="167335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09560" y="167335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Detection Engine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09560" y="2103120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tool that detects when one system is simultaneously in scope for both DORA and EU AI Act — the intersection problem solved.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37960" y="3200400"/>
            <a:ext cx="5760720" cy="1508760"/>
          </a:xfrm>
          <a:prstGeom prst="roundRect">
            <a:avLst>
              <a:gd name="adj" fmla="val 4848"/>
            </a:avLst>
          </a:prstGeom>
          <a:solidFill>
            <a:srgbClr val="10184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60920" y="336499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909560" y="3364992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Reg Analysis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909560" y="3794760"/>
            <a:ext cx="4251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3-call sequential Claude Sonnet API analysis per incident. DORA assessment + AI Act assessment + unified remediation plan with deadlines.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5 of 12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49377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Steps from App ID to Regulatory Action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05840" y="3017520"/>
            <a:ext cx="10149840" cy="36576"/>
          </a:xfrm>
          <a:prstGeom prst="rect">
            <a:avLst/>
          </a:prstGeom>
          <a:solidFill>
            <a:srgbClr val="B0CCE8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651760"/>
            <a:ext cx="987552" cy="987552"/>
          </a:xfrm>
          <a:prstGeom prst="ellipse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65176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3794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E2A7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5760" y="40416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 Portal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" y="1078992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133856"/>
            <a:ext cx="176479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any APP-XXXX ID. Known apps load real data; unknown IDs generate deterministic mock profiles via seeded RNG.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283464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36392" y="2651760"/>
            <a:ext cx="987552" cy="987552"/>
          </a:xfrm>
          <a:prstGeom prst="ellipse">
            <a:avLst/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265176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33472" y="3794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069B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633472" y="40416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Details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06624" y="1078992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61488" y="1133856"/>
            <a:ext cx="176479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overview, AI components tagged for EU AI Act scope, tech stack, infrastructure, SLA &amp; certifications.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53712" y="283464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04104" y="2651760"/>
            <a:ext cx="987552" cy="98755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04104" y="265176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01184" y="3794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E7C8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01184" y="40416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WALTZ Flows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74336" y="1078992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133856"/>
            <a:ext cx="176479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&amp; logical data flow map. Upstream data sources and downstream consumers visualised with protocol and criticality.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21424" y="283464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671816" y="2651760"/>
            <a:ext cx="987552" cy="987552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71816" y="265176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168896" y="3794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8B00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68896" y="40416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42048" y="1078992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6912" y="1133856"/>
            <a:ext cx="176479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incident register. DORA and AI Act flags auto-assigned per incident category. Click any row to trigger analysis.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89136" y="2834640"/>
            <a:ext cx="347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0CC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939528" y="2651760"/>
            <a:ext cx="987552" cy="98755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39528" y="2651760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436608" y="37947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A7A4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436608" y="40416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Analysis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509760" y="1078992"/>
            <a:ext cx="18745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0C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64624" y="1133856"/>
            <a:ext cx="1764792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sequential AI calls produce DORA analysis, AI Act analysis, and unified remediation plan with numbered bullet findings.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4645152"/>
            <a:ext cx="11430000" cy="1965960"/>
          </a:xfrm>
          <a:prstGeom prst="roundRect">
            <a:avLst>
              <a:gd name="adj" fmla="val 4651"/>
            </a:avLst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7548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Innovation: The Overlap Engine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0080" y="5138928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incident on a high-risk AI system also triggers DORA obligations, RegSentinel is the only tool</a:t>
            </a:r>
            <a:endParaRPr lang="en-US" sz="10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detects both simultaneously and generates a unified remediation plan with a single owner.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818120" y="4754880"/>
            <a:ext cx="3749040" cy="1600200"/>
          </a:xfrm>
          <a:prstGeom prst="roundRect">
            <a:avLst>
              <a:gd name="adj" fmla="val 4571"/>
            </a:avLst>
          </a:prstGeom>
          <a:solidFill>
            <a:srgbClr val="10184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5528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8458200" y="4864608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+ AI Act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Dual-Scope Detection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58200" y="548640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scoring AI flagged as both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B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DORA-critical ICT asset AND 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B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EU AI Act system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6 of 12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84E"/>
          </a:solidFill>
          <a:ln w="12700">
            <a:solidFill>
              <a:srgbClr val="1618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0123A"/>
          </a:solidFill>
          <a:ln w="12700">
            <a:solidFill>
              <a:srgbClr val="101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A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49377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&amp; Data Flow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0C0E2E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261872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618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LAYER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131640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202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CMDB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33472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131640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3347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WALTZ System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46704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131640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4670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 Portal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59936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131640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5993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BaFin / ECB Feed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131640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7731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486400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131640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48640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Registry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34840" y="1115568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0C0E2E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44568" y="1261872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44568" y="12618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ENGINE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1920240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1316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19202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Classifier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17720" y="2633472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1316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263347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Risk Mapper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3346704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1316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34670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Detector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17720" y="4059936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1316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405993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Analyser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17720" y="4773168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131640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47731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 Report Generator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503920" y="1115568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0C0E2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13648" y="1261872"/>
            <a:ext cx="3383280" cy="475488"/>
          </a:xfrm>
          <a:prstGeom prst="roundRect">
            <a:avLst>
              <a:gd name="adj" fmla="val 11538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13648" y="1261872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LAYER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686800" y="1920240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13164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0" y="19202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Dashboard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686800" y="2633472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13164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686800" y="263347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Tasks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686800" y="3346704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13164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0" y="334670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Reports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686800" y="4059936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13164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0" y="405993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(Immutable)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686800" y="4773168"/>
            <a:ext cx="3246120" cy="566928"/>
          </a:xfrm>
          <a:prstGeom prst="roundRect">
            <a:avLst>
              <a:gd name="adj" fmla="val 9677"/>
            </a:avLst>
          </a:prstGeom>
          <a:solidFill>
            <a:srgbClr val="131640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0" y="47731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 / ITAO Alerts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133088" y="318211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8202168" y="3182112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50" name="Shape 48"/>
          <p:cNvSpPr/>
          <p:nvPr/>
        </p:nvSpPr>
        <p:spPr>
          <a:xfrm>
            <a:off x="365760" y="5961888"/>
            <a:ext cx="11430000" cy="594360"/>
          </a:xfrm>
          <a:prstGeom prst="roundRect">
            <a:avLst>
              <a:gd name="adj" fmla="val 12308"/>
            </a:avLst>
          </a:prstGeom>
          <a:solidFill>
            <a:srgbClr val="0A0C2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5961888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Sovereign Architecture: Azure EU Regions (Frankfurt · Amsterdam)  ·  No data egress outside EU  ·  AI Act Art. 10 compliant  ·  Claude Sonnet 4.6 AI Engine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7 of 12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49377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&amp; AI Model Details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70432"/>
            <a:ext cx="3730752" cy="73152"/>
          </a:xfrm>
          <a:prstGeom prst="rect">
            <a:avLst/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4128" y="135331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React 18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3042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TypeScript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883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CSS-in-JS (inline styles)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0723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Responsive layout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1170432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170432"/>
            <a:ext cx="3730752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56048" y="135331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19202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Claude Sonnet 4.6 (Anthropic)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80560" y="23042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3 sequential API calls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80560" y="26883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4,000 max tokens per call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480560" y="30723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JSON schema enforcement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0" y="1170432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1170432"/>
            <a:ext cx="3730752" cy="73152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94192" y="1353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887968" y="135331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12480" y="19202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ServiceNow CMDB REST API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23042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WALTZ logical flow system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0" y="26883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NAR Portal application registry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30723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Mock API (drop-in ready)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776472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776472"/>
            <a:ext cx="3730752" cy="7315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24128" y="395935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Coverage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4526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DORA Art. 5–45 (all 5 pillars)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49103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EU AI Act Art. 5–56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52943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Annex III high-risk classification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56784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BaFin &amp; ECB reporting formats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97680" y="3776472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97680" y="3776472"/>
            <a:ext cx="3730752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62272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956048" y="395935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480560" y="4526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Azure EU (Frankfurt / Amsterdam)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480560" y="49103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 cross-border data transfer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480560" y="52943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99.95% SLA target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480560" y="56784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ISO 27001 · SOC 2 Type II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229600" y="3776472"/>
            <a:ext cx="373075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29600" y="3776472"/>
            <a:ext cx="3730752" cy="73152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94192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8887968" y="3959352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2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Pattern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412480" y="4526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Stateless React SPA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412480" y="49103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Sequential agentic AI calls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412480" y="52943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extractJSON repair function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8412480" y="567842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Dynamic mock data generator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8 of 12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84E"/>
          </a:solidFill>
          <a:ln w="12700">
            <a:solidFill>
              <a:srgbClr val="1618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0123A"/>
          </a:solidFill>
          <a:ln w="12700">
            <a:solidFill>
              <a:srgbClr val="101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A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COVERAGE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49377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Article. Both Frameworks.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 DORA — Digital Operational Resilience Act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0A1040"/>
          </a:solidFill>
          <a:ln w="12700">
            <a:solidFill>
              <a:srgbClr val="2244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810512"/>
            <a:ext cx="1078992" cy="310896"/>
          </a:xfrm>
          <a:prstGeom prst="roundRect">
            <a:avLst>
              <a:gd name="adj" fmla="val 11765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1051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5–16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64208" y="179222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ICT Risk Management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167128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asset mapping, board accountability, BCP testing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688336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0A1040"/>
          </a:solidFill>
          <a:ln w="12700">
            <a:solidFill>
              <a:srgbClr val="2244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779776"/>
            <a:ext cx="1078992" cy="310896"/>
          </a:xfrm>
          <a:prstGeom prst="roundRect">
            <a:avLst>
              <a:gd name="adj" fmla="val 11765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79776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17–23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64208" y="276148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Reporting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136392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4h initial, 72h intermediate, 1 month final — BaFin/ECB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0A1040"/>
          </a:solidFill>
          <a:ln w="12700">
            <a:solidFill>
              <a:srgbClr val="2244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749040"/>
            <a:ext cx="1078992" cy="310896"/>
          </a:xfrm>
          <a:prstGeom prst="roundRect">
            <a:avLst>
              <a:gd name="adj" fmla="val 11765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49040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24–27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64208" y="373075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 Testing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105656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vulnerability assessments + TLPT every 3 years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626864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0A1040"/>
          </a:solidFill>
          <a:ln w="12700">
            <a:solidFill>
              <a:srgbClr val="2244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718304"/>
            <a:ext cx="1078992" cy="310896"/>
          </a:xfrm>
          <a:prstGeom prst="roundRect">
            <a:avLst>
              <a:gd name="adj" fmla="val 11765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71830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28–44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664208" y="470001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074920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CTPPs, contractual provisions, exit strategies, sub-outsourcing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5596128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0A1040"/>
          </a:solidFill>
          <a:ln w="12700">
            <a:solidFill>
              <a:srgbClr val="2244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687568"/>
            <a:ext cx="1078992" cy="310896"/>
          </a:xfrm>
          <a:prstGeom prst="roundRect">
            <a:avLst>
              <a:gd name="adj" fmla="val 11765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568756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45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664208" y="56692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Sharing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6044184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Voluntary CTI sharing between financial entities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0760" y="1097280"/>
            <a:ext cx="5349240" cy="475488"/>
          </a:xfrm>
          <a:prstGeom prst="roundRect">
            <a:avLst>
              <a:gd name="adj" fmla="val 11538"/>
            </a:avLst>
          </a:prstGeom>
          <a:solidFill>
            <a:srgbClr val="1E2A78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1097280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EU AI ACT — Artificial Intelligence Act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80760" y="1719072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08082A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1810512"/>
            <a:ext cx="1298448" cy="310896"/>
          </a:xfrm>
          <a:prstGeom prst="roundRect">
            <a:avLst>
              <a:gd name="adj" fmla="val 11765"/>
            </a:avLst>
          </a:prstGeom>
          <a:solidFill>
            <a:srgbClr val="1E2A78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81051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607808" y="1792224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Prohibited Practices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17920" y="2167128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scoring, subliminal AI, real-time biometric ID banned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80760" y="2688336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08082A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0" y="2779776"/>
            <a:ext cx="1298448" cy="310896"/>
          </a:xfrm>
          <a:prstGeom prst="roundRect">
            <a:avLst>
              <a:gd name="adj" fmla="val 11765"/>
            </a:avLst>
          </a:prstGeom>
          <a:solidFill>
            <a:srgbClr val="1E2A78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277977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6 + Annex III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607808" y="2761488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Classification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17920" y="3136392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scoring, AML, robo-advisory → HIGH RISK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80760" y="3657600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08082A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17920" y="3749040"/>
            <a:ext cx="1298448" cy="310896"/>
          </a:xfrm>
          <a:prstGeom prst="roundRect">
            <a:avLst>
              <a:gd name="adj" fmla="val 11765"/>
            </a:avLst>
          </a:prstGeom>
          <a:solidFill>
            <a:srgbClr val="1E2A78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374904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9–15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607808" y="3730752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Obligations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17920" y="4105656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Conformity, data governance, audit logs, human oversight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80760" y="4626864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08082A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17920" y="4718304"/>
            <a:ext cx="1298448" cy="310896"/>
          </a:xfrm>
          <a:prstGeom prst="roundRect">
            <a:avLst>
              <a:gd name="adj" fmla="val 11765"/>
            </a:avLst>
          </a:prstGeom>
          <a:solidFill>
            <a:srgbClr val="1E2A78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471830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50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607808" y="4700016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17920" y="5074920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Chatbots, deepfakes, emotion AI must disclose AI nature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080760" y="5596128"/>
            <a:ext cx="5349240" cy="841248"/>
          </a:xfrm>
          <a:prstGeom prst="roundRect">
            <a:avLst>
              <a:gd name="adj" fmla="val 6522"/>
            </a:avLst>
          </a:prstGeom>
          <a:solidFill>
            <a:srgbClr val="08082A"/>
          </a:solidFill>
          <a:ln w="12700">
            <a:solidFill>
              <a:srgbClr val="33448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0" y="5687568"/>
            <a:ext cx="1298448" cy="310896"/>
          </a:xfrm>
          <a:prstGeom prst="roundRect">
            <a:avLst>
              <a:gd name="adj" fmla="val 11765"/>
            </a:avLst>
          </a:prstGeom>
          <a:solidFill>
            <a:srgbClr val="1E2A78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0" y="568756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Art. 51–56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607808" y="5669280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GPAI Models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217920" y="6044184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models: documentation, red-teaming, incident reporting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9 of 12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EBF2FA"/>
          </a:solidFill>
          <a:ln w="12700">
            <a:solidFill>
              <a:srgbClr val="EBF2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ACHIEVED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49377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Impact Across Three Horizons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3730752" cy="5440680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298448"/>
            <a:ext cx="3401568" cy="475488"/>
          </a:xfrm>
          <a:prstGeom prst="roundRect">
            <a:avLst>
              <a:gd name="adj" fmla="val 11538"/>
            </a:avLst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98448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  ·  0–12 Months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8836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Value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34086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Eliminates manual DORA / AI Act spreadsheet work across Deutsche Bank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98094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Reduces compliance FTE cost by an estimated 40% through automation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362102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Cuts incident reporting time from 4 hours to under 30 minutes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426110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Avoids DORA fine risk: up to 2% of global annual turnover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490118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Instant regulatory impact assessment — was 3 weeks with consultants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5468112"/>
            <a:ext cx="3182112" cy="1005840"/>
          </a:xfrm>
          <a:prstGeom prst="roundRect">
            <a:avLst>
              <a:gd name="adj" fmla="val 6364"/>
            </a:avLst>
          </a:prstGeom>
          <a:solidFill>
            <a:srgbClr val="1E2A78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53212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~€80M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0080" y="6080760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cost avoided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97680" y="1170432"/>
            <a:ext cx="3730752" cy="5440680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62272" y="1298448"/>
            <a:ext cx="3401568" cy="475488"/>
          </a:xfrm>
          <a:prstGeom prst="roundRect">
            <a:avLst>
              <a:gd name="adj" fmla="val 11538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2272" y="1298448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  ·  12–24 Months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80560" y="18836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Platform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234086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License RegSentinel to European Tier-2/3 banks (€200K–500K/year)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80560" y="298094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Target: 50 EU institutions across DORA scope within 24 months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80560" y="362102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DB positions as the European RegTech compliance standard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80560" y="426110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SaaS model with minimal incremental cost once built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80560" y="490118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Proven internal production use as the reference case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5468112"/>
            <a:ext cx="3182112" cy="1005840"/>
          </a:xfrm>
          <a:prstGeom prst="roundRect">
            <a:avLst>
              <a:gd name="adj" fmla="val 6364"/>
            </a:avLst>
          </a:prstGeom>
          <a:solidFill>
            <a:srgbClr val="1E2A7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553212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69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€25M+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572000" y="6080760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year-2 licensing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229600" y="1170432"/>
            <a:ext cx="3730752" cy="5440680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94192" y="1298448"/>
            <a:ext cx="3401568" cy="475488"/>
          </a:xfrm>
          <a:prstGeom prst="roundRect">
            <a:avLst>
              <a:gd name="adj" fmla="val 11538"/>
            </a:avLst>
          </a:prstGeom>
          <a:solidFill>
            <a:srgbClr val="3A8FCC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94192" y="1298448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  ·  24–36 Months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412480" y="188366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 Co-Creation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12480" y="234086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Co-develop DORA/AI Act reporting standards with BaFin, ECB, EBA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412480" y="298094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RegSentinel becomes the EU regulatory reference implementation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412480" y="362102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DB advisory revenues on compliance transformation engagements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412480" y="426110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European AI sovereignty leadership at G7/G20 level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412480" y="490118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Potential to define the category — first-mover no competitor can replicate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503920" y="5468112"/>
            <a:ext cx="3182112" cy="1005840"/>
          </a:xfrm>
          <a:prstGeom prst="roundRect">
            <a:avLst>
              <a:gd name="adj" fmla="val 6364"/>
            </a:avLst>
          </a:prstGeom>
          <a:solidFill>
            <a:srgbClr val="1E2A78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5532120"/>
            <a:ext cx="3182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€200M+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8503920" y="6080760"/>
            <a:ext cx="3182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RegTech TAM DB could own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10 of 12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84E"/>
          </a:solidFill>
          <a:ln w="12700">
            <a:solidFill>
              <a:srgbClr val="1618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10123A"/>
          </a:solidFill>
          <a:ln w="12700">
            <a:solidFill>
              <a:srgbClr val="101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640080" cy="457200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88720" y="27432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AB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88720" y="493776"/>
            <a:ext cx="10058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Real DB Applications — Live in the Workstation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11430000" cy="1664208"/>
          </a:xfrm>
          <a:prstGeom prst="roundRect">
            <a:avLst>
              <a:gd name="adj" fmla="val 4396"/>
            </a:avLst>
          </a:prstGeom>
          <a:solidFill>
            <a:srgbClr val="0A0E28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298448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069B1"/>
          </a:solidFill>
          <a:ln w="12700">
            <a:solidFill>
              <a:srgbClr val="006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984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APP-2841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65960" y="12801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Credit Intelligence Platform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65960" y="16276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&amp; Commercial Bank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52360" y="1298448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3A0000"/>
          </a:solidFill>
          <a:ln w="12700">
            <a:solidFill>
              <a:srgbClr val="AA22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12984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AA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HIGH RISK AI · CRITICAL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0352" y="1956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XGBoost scoring model · SHAP explainability layer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" y="223113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Infra: Azure EU Frankfurt/Amsterdam · 99.95% SLA · Dual active-active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52360" y="1773936"/>
            <a:ext cx="42245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5 incidents including P1 model drift (14,200 users affected)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62656"/>
            <a:ext cx="11430000" cy="1664208"/>
          </a:xfrm>
          <a:prstGeom prst="roundRect">
            <a:avLst>
              <a:gd name="adj" fmla="val 4396"/>
            </a:avLst>
          </a:prstGeom>
          <a:solidFill>
            <a:srgbClr val="0A0E28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3145536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1455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APP-1193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65960" y="31272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Transaction Surveillance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65960" y="34747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Bank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52360" y="3145536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3A0000"/>
          </a:solidFill>
          <a:ln w="12700">
            <a:solidFill>
              <a:srgbClr val="AA22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31455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AA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HIGH RISK AI · CRITICAL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30352" y="38039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Graph Neural Network (GNN) · Anomaly detection ensemble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0352" y="407822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Infra: Azure EU Frankfurt · 99.99% SLA · Zero RPO synchronous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52360" y="3621024"/>
            <a:ext cx="42245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4 incidents including P1 23-min screening gap + P2 false positive spike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809744"/>
            <a:ext cx="11430000" cy="1664208"/>
          </a:xfrm>
          <a:prstGeom prst="roundRect">
            <a:avLst>
              <a:gd name="adj" fmla="val 4396"/>
            </a:avLst>
          </a:prstGeom>
          <a:solidFill>
            <a:srgbClr val="0A0E28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4992624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3A8FCC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99262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APP-3307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965960" y="497433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Robo-Adviser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965960" y="53218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E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Bank (DB Anlageassistent)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52360" y="4992624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3A0000"/>
          </a:solidFill>
          <a:ln w="12700">
            <a:solidFill>
              <a:srgbClr val="AA22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52360" y="49926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AAA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HIGH RISK AI · IMPORTANT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0352" y="56509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Mean-variance optimisation · RL rebalancing agent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" y="59253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0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Infra: Azure EU Frankfurt · 99.9% SLA · MiFID II 5yr retention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52360" y="5468112"/>
            <a:ext cx="42245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D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3 incidents including P2 RL suitability breach (128 clients affected)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11 of 12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84E"/>
          </a:solidFill>
          <a:ln w="12700">
            <a:solidFill>
              <a:srgbClr val="1618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1097280"/>
            <a:ext cx="5486400" cy="5486400"/>
          </a:xfrm>
          <a:prstGeom prst="ellipse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-274320"/>
            <a:ext cx="3657600" cy="3657600"/>
          </a:xfrm>
          <a:prstGeom prst="ellipse">
            <a:avLst/>
          </a:prstGeom>
          <a:solidFill>
            <a:srgbClr val="0F1148"/>
          </a:solidFill>
          <a:ln w="12700">
            <a:solidFill>
              <a:srgbClr val="0F11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14400" y="5120640"/>
            <a:ext cx="3200400" cy="3200400"/>
          </a:xfrm>
          <a:prstGeom prst="ellipse">
            <a:avLst/>
          </a:prstGeom>
          <a:solidFill>
            <a:srgbClr val="1E2A78"/>
          </a:solidFill>
          <a:ln w="12700">
            <a:solidFill>
              <a:srgbClr val="1E2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4320"/>
            <a:ext cx="658368" cy="475488"/>
          </a:xfrm>
          <a:prstGeom prst="rect">
            <a:avLst/>
          </a:prstGeom>
          <a:solidFill>
            <a:srgbClr val="3A8F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1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 doesn't need to import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compliance.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A8F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needs to build it.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is Deutsche Bank's answer to that challenge —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Europe's answer to sovereign, trustworthy, AI-native compliance.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736592"/>
            <a:ext cx="2377440" cy="1508760"/>
          </a:xfrm>
          <a:prstGeom prst="roundRect">
            <a:avLst>
              <a:gd name="adj" fmla="val 6061"/>
            </a:avLst>
          </a:prstGeom>
          <a:solidFill>
            <a:srgbClr val="1E2A78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736592"/>
            <a:ext cx="2377440" cy="73152"/>
          </a:xfrm>
          <a:prstGeom prst="rect">
            <a:avLst/>
          </a:prstGeom>
          <a:solidFill>
            <a:srgbClr val="3A8FCC"/>
          </a:solidFill>
          <a:ln w="12700">
            <a:solidFill>
              <a:srgbClr val="3A8F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919472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Demo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376672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live right now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35808" y="4736592"/>
            <a:ext cx="2377440" cy="1508760"/>
          </a:xfrm>
          <a:prstGeom prst="roundRect">
            <a:avLst>
              <a:gd name="adj" fmla="val 6061"/>
            </a:avLst>
          </a:prstGeom>
          <a:solidFill>
            <a:srgbClr val="1E2A78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35808" y="4736592"/>
            <a:ext cx="2377440" cy="7315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4919472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Pilot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27248" y="5376672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Banking Germany · Q3 2026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14416" y="4736592"/>
            <a:ext cx="2377440" cy="1508760"/>
          </a:xfrm>
          <a:prstGeom prst="roundRect">
            <a:avLst>
              <a:gd name="adj" fmla="val 6061"/>
            </a:avLst>
          </a:prstGeom>
          <a:solidFill>
            <a:srgbClr val="1E2A78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14416" y="4736592"/>
            <a:ext cx="2377440" cy="731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05856" y="4919472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the Platform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05856" y="5376672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a co-development partner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6382512"/>
            <a:ext cx="7772400" cy="347472"/>
          </a:xfrm>
          <a:prstGeom prst="roundRect">
            <a:avLst>
              <a:gd name="adj" fmla="val 13158"/>
            </a:avLst>
          </a:prstGeom>
          <a:solidFill>
            <a:srgbClr val="0A0C25"/>
          </a:solidFill>
          <a:ln w="12700">
            <a:solidFill>
              <a:srgbClr val="3344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38251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66A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github.com/nparchure-art/regsentinel-ai  ·  Deutsche Bank Global Hackathon 2026  ·  Track: Risk &amp; Compliance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6638544"/>
            <a:ext cx="114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Deutsche Bank Global Hackathon 2026  ·  12 of 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2026-07-23T16:37:55Z</dcterms:created>
  <dcterms:modified xsi:type="dcterms:W3CDTF">2026-07-23T16:37:55Z</dcterms:modified>
</cp:coreProperties>
</file>