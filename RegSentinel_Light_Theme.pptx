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4" r:id="rId7"/>
    <p:sldId id="262" r:id="rId8"/>
    <p:sldId id="266" r:id="rId9"/>
    <p:sldId id="263" r:id="rId10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488" y="8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9513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2011680"/>
            <a:ext cx="5943600" cy="5943600"/>
          </a:xfrm>
          <a:prstGeom prst="ellipse">
            <a:avLst/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-1371600"/>
            <a:ext cx="4389120" cy="4389120"/>
          </a:xfrm>
          <a:prstGeom prst="ellipse">
            <a:avLst/>
          </a:prstGeom>
          <a:solidFill>
            <a:srgbClr val="D6E8F5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097280" y="5303520"/>
            <a:ext cx="3200400" cy="3200400"/>
          </a:xfrm>
          <a:prstGeom prst="ellipse">
            <a:avLst/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658368" cy="475488"/>
          </a:xfrm>
          <a:prstGeom prst="rect">
            <a:avLst/>
          </a:prstGeom>
          <a:solidFill>
            <a:srgbClr val="3A8FC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47548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3A8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DEUTSCHE BANK  ·  GLOBAL HACKATHON 2026  ·  RISK &amp; COMPLIANCE TRACK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914403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502920" y="1884146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Compliance Intelligence for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2368778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&amp; the EU AI Act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2920" y="3100298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AI-powered compliance workstation that ingests live application data,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incidents to regulatory obligations, and generates actionable analysis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two of the EU's most demanding frameworks — simultaneously.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124425"/>
            <a:ext cx="2148840" cy="1417320"/>
          </a:xfrm>
          <a:prstGeom prst="roundRect">
            <a:avLst>
              <a:gd name="adj" fmla="val 6452"/>
            </a:avLst>
          </a:prstGeom>
          <a:solidFill>
            <a:srgbClr val="1E2A78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234153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8,000+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2920" y="4837657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entities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DORA scope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807208" y="4124425"/>
            <a:ext cx="2148840" cy="1417320"/>
          </a:xfrm>
          <a:prstGeom prst="roundRect">
            <a:avLst>
              <a:gd name="adj" fmla="val 6452"/>
            </a:avLst>
          </a:prstGeom>
          <a:solidFill>
            <a:srgbClr val="1E2A78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07208" y="4234153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2026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807208" y="4837657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Act high-risk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11496" y="4124425"/>
            <a:ext cx="2148840" cy="1417320"/>
          </a:xfrm>
          <a:prstGeom prst="roundRect">
            <a:avLst>
              <a:gd name="adj" fmla="val 6452"/>
            </a:avLst>
          </a:prstGeom>
          <a:solidFill>
            <a:srgbClr val="1E2A78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11496" y="4234153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€200M+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111496" y="4837657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RegTech TAM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could own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9545" y="5896435"/>
            <a:ext cx="5943600" cy="411480"/>
          </a:xfrm>
          <a:prstGeom prst="roundRect">
            <a:avLst>
              <a:gd name="adj" fmla="val 17778"/>
            </a:avLst>
          </a:prstGeom>
          <a:solidFill>
            <a:srgbClr val="0069B1"/>
          </a:solidFill>
          <a:ln w="12700">
            <a:solidFill>
              <a:srgbClr val="0069B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2" name="Text 20"/>
          <p:cNvSpPr/>
          <p:nvPr/>
        </p:nvSpPr>
        <p:spPr>
          <a:xfrm>
            <a:off x="502920" y="5848309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Powering the European Champion of the Future of AI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6638544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 ·  Deutsche Bank Global Hackathon 2026  ·  1 of 12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solidFill>
            <a:srgbClr val="3A8FC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25603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Story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143560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65960" y="14356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965960" y="18745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dual compliance storm no tool manages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312724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65960" y="31272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965960" y="35661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— five intelligent capabilities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61772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80160" y="481888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965960" y="48188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Tech Stack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965960" y="52578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under the hood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123444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223760" y="143560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909560" y="14356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909560" y="18745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steps from App ID to regulatory analysis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292608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223760" y="312724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909560" y="31272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Achieved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909560" y="35661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Quantified impact across three horizons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6638544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 ·  Deutsche Bank Global Hackathon 2026  ·  2 of 12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solidFill>
            <a:srgbClr val="3A8FC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2743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A8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88720" y="493776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Dual Compliance Storm — With No Unified Solution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3444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0069B1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81051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Operational Resilience Act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10312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 (EU) 2022/2554 · In force: Jan 2025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51460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ICT Risk Management — board accountability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999232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Incident reporting to BaFin within 4 hours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483864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Threat-Led Pen Testing every 3 years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968496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Third-party ICT oversight — CTPPs in scope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453128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Fine: up to 2% of global annual turnover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89320" y="109728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23444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1E2A78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181051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 Act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210312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 (EU) 2024/1689 · High-risk: Aug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26480" y="2514600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Credit scoring → classified HIGH RISK (Annex III)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26480" y="2999232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Mandatory conformity assessment &amp; audit logs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26480" y="3483864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Human-in-the-loop oversight required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26480" y="3968496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Bias monitoring &amp; explainability obligations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26480" y="4453128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Fine: up to 3% of global annual turnover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6236208"/>
            <a:ext cx="10927080" cy="502920"/>
          </a:xfrm>
          <a:prstGeom prst="roundRect">
            <a:avLst>
              <a:gd name="adj" fmla="val 12727"/>
            </a:avLst>
          </a:prstGeom>
          <a:solidFill>
            <a:srgbClr val="FEE2E2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23620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THE HIDDEN RISK: A credit scoring AI is simultaneously a DORA-critical ICT asset AND an EU AI Act high-risk system. No single tool manages this intersection today. Banks use spreadsheets.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6638544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 ·  Deutsche Bank Global Hackathon 2026  ·  3 of 12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D6E8F5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029200"/>
            <a:ext cx="2743200" cy="2743200"/>
          </a:xfrm>
          <a:prstGeom prst="ellipse">
            <a:avLst/>
          </a:prstGeom>
          <a:solidFill>
            <a:srgbClr val="D6E8F5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solidFill>
            <a:srgbClr val="3A8FC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2743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A8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88720" y="475488"/>
            <a:ext cx="10058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88720" y="987552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Compliance Intelligence — Five Capabilities, One Platform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5760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167335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9B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37360" y="167335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 Portal Lookup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37360" y="2103120"/>
            <a:ext cx="4251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any DB application by ID. Live CMDB integration pulls full asset metadata, tech stack, and infrastructure profile automatically.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5760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611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88720" y="336499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8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37360" y="336499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WALTZ Data Flow Map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3794760"/>
            <a:ext cx="4251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upstream/downstream dependency map via WALTZ integration. Auto-flags DORA Art. 28-44 third-party risk on external providers.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892040"/>
            <a:ext cx="5760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303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88720" y="505663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9B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737360" y="505663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 Incidents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37360" y="5486400"/>
            <a:ext cx="4251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incident register with automatic DORA and AI Act flag classification. P1/P2 severity tagging with affected user counts.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37960" y="1508760"/>
            <a:ext cx="5760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360920" y="167335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909560" y="167335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Detection Engine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909560" y="2103120"/>
            <a:ext cx="4251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tool that detects when one system is simultaneously in scope for both DORA and EU AI Act — the intersection problem solved.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37960" y="3200400"/>
            <a:ext cx="5760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3611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360920" y="336499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A4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909560" y="336499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Reg Analysis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909560" y="3794760"/>
            <a:ext cx="4251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3-call sequential Claude Sonnet API analysis per incident. DORA assessment + AI Act assessment + unified remediation plan with deadlines.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6638544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 ·  Deutsche Bank Global Hackathon 2026  ·  5 of 12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solidFill>
            <a:srgbClr val="3A8FC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2743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A8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JOURNEY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88720" y="493776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Steps from App ID to Regulatory Action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05840" y="3017520"/>
            <a:ext cx="10149840" cy="36576"/>
          </a:xfrm>
          <a:prstGeom prst="rect">
            <a:avLst/>
          </a:prstGeom>
          <a:solidFill>
            <a:srgbClr val="B0CCE8"/>
          </a:solidFill>
          <a:ln w="12700">
            <a:solidFill>
              <a:srgbClr val="B0C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651760"/>
            <a:ext cx="987552" cy="987552"/>
          </a:xfrm>
          <a:prstGeom prst="ellipse">
            <a:avLst/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651760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🔎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37947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E2A7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STEP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40416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 Portal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8912" y="1078992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0CC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133856"/>
            <a:ext cx="176479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any APP-XXXX ID. Known apps load real data; unknown IDs generate deterministic mock profiles via seeded RNG.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283464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0C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136392" y="2651760"/>
            <a:ext cx="987552" cy="987552"/>
          </a:xfrm>
          <a:prstGeom prst="ellipse">
            <a:avLst/>
          </a:prstGeom>
          <a:solidFill>
            <a:srgbClr val="0069B1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36392" y="2651760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📂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633472" y="37947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069B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STEP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33472" y="40416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Details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06624" y="1078992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0C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61488" y="1133856"/>
            <a:ext cx="176479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overview, AI components tagged for EU AI Act scope, tech stack, infrastructure, SLA &amp; certifications.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53712" y="283464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0C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04104" y="2651760"/>
            <a:ext cx="987552" cy="98755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04104" y="2651760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901184" y="37947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E7C8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STEP 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01184" y="40416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WALTZ Flows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974336" y="1078992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0CC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1133856"/>
            <a:ext cx="176479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&amp; logical data flow map. Upstream data sources and downstream consumers visualised with protocol and criticality.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21424" y="283464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0C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671816" y="2651760"/>
            <a:ext cx="987552" cy="987552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71816" y="2651760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168896" y="37947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8B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STEP 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168896" y="40416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242048" y="1078992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0CC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96912" y="1133856"/>
            <a:ext cx="176479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incident register. DORA and AI Act flags auto-assigned per incident category. Click any row to trigger analysis.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089136" y="283464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0C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939528" y="2651760"/>
            <a:ext cx="987552" cy="987552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39528" y="2651760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436608" y="37947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A7A4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STEP 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9436608" y="40416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 Analysis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509760" y="1078992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0CC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64624" y="1133856"/>
            <a:ext cx="176479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sequential AI calls produce DORA analysis, AI Act analysis, and unified remediation plan with numbered bullet findings.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4645152"/>
            <a:ext cx="11430000" cy="1965960"/>
          </a:xfrm>
          <a:prstGeom prst="roundRect">
            <a:avLst>
              <a:gd name="adj" fmla="val 4651"/>
            </a:avLst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475488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Innovation: The Overlap Engine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40080" y="5138928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an incident on a high-risk AI system also triggers DORA obligations, RegSentinel is the only tool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detects both simultaneously and generates a unified remediation plan with a single owner.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818120" y="4754880"/>
            <a:ext cx="3749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5528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8458200" y="4864608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+ AI Act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Dual-Scope Detection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458200" y="548640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scoring AI flagged as both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DORA-critical ICT asset AND 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EU AI Act system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65760" y="6638544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 ·  Deutsche Bank Global Hackathon 2026  ·  6 of 12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solidFill>
            <a:srgbClr val="3A8FC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2743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A8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COVERAGE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88720" y="493776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Article. Both Frameworks.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5349240" cy="475488"/>
          </a:xfrm>
          <a:prstGeom prst="roundRect">
            <a:avLst>
              <a:gd name="adj" fmla="val 11538"/>
            </a:avLst>
          </a:prstGeom>
          <a:solidFill>
            <a:srgbClr val="0069B1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  DORA — Digital Operational Resilience Act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810512"/>
            <a:ext cx="1078992" cy="310896"/>
          </a:xfrm>
          <a:prstGeom prst="roundRect">
            <a:avLst>
              <a:gd name="adj" fmla="val 11765"/>
            </a:avLst>
          </a:prstGeom>
          <a:solidFill>
            <a:srgbClr val="0069B1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1051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184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Art. 5–16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664208" y="179222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 Risk Management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167128"/>
            <a:ext cx="5102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asset mapping, board accountability, BCP testing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688336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779776"/>
            <a:ext cx="1078992" cy="310896"/>
          </a:xfrm>
          <a:prstGeom prst="roundRect">
            <a:avLst>
              <a:gd name="adj" fmla="val 11765"/>
            </a:avLst>
          </a:prstGeom>
          <a:solidFill>
            <a:srgbClr val="0069B1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79776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184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Art. 17–23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664208" y="276148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Reporting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136392"/>
            <a:ext cx="5102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4h initial, 72h intermediate, 1 month final — BaFin/ECB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657600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749040"/>
            <a:ext cx="1078992" cy="310896"/>
          </a:xfrm>
          <a:prstGeom prst="roundRect">
            <a:avLst>
              <a:gd name="adj" fmla="val 11765"/>
            </a:avLst>
          </a:prstGeom>
          <a:solidFill>
            <a:srgbClr val="0069B1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4904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184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Art. 24–27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664208" y="373075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Resilience Testing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105656"/>
            <a:ext cx="5102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vulnerability assessments + TLPT every 3 years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4626864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718304"/>
            <a:ext cx="1078992" cy="310896"/>
          </a:xfrm>
          <a:prstGeom prst="roundRect">
            <a:avLst>
              <a:gd name="adj" fmla="val 11765"/>
            </a:avLst>
          </a:prstGeom>
          <a:solidFill>
            <a:srgbClr val="0069B1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71830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184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Art. 28–44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664208" y="470001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Risk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5074920"/>
            <a:ext cx="5102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CTPPs, contractual provisions, exit strategies, sub-outsourcing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5596128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5687568"/>
            <a:ext cx="1078992" cy="310896"/>
          </a:xfrm>
          <a:prstGeom prst="roundRect">
            <a:avLst>
              <a:gd name="adj" fmla="val 11765"/>
            </a:avLst>
          </a:prstGeom>
          <a:solidFill>
            <a:srgbClr val="0069B1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5687568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184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Art. 45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664208" y="566928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Sharing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6044184"/>
            <a:ext cx="5102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Voluntary CTI sharing between financial entities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80760" y="1097280"/>
            <a:ext cx="5349240" cy="475488"/>
          </a:xfrm>
          <a:prstGeom prst="roundRect">
            <a:avLst>
              <a:gd name="adj" fmla="val 11538"/>
            </a:avLst>
          </a:prstGeom>
          <a:solidFill>
            <a:srgbClr val="1E2A78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80760" y="1097280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EU AI ACT — Artificial Intelligence Act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80760" y="1719072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1810512"/>
            <a:ext cx="1298448" cy="310896"/>
          </a:xfrm>
          <a:prstGeom prst="roundRect">
            <a:avLst>
              <a:gd name="adj" fmla="val 11765"/>
            </a:avLst>
          </a:prstGeom>
          <a:solidFill>
            <a:srgbClr val="1E2A78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181051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184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Art. 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607808" y="1792224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Prohibited Practices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17920" y="2167128"/>
            <a:ext cx="5102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scoring, subliminal AI, real-time biometric ID banned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080760" y="2688336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0" y="2779776"/>
            <a:ext cx="1298448" cy="310896"/>
          </a:xfrm>
          <a:prstGeom prst="roundRect">
            <a:avLst>
              <a:gd name="adj" fmla="val 11765"/>
            </a:avLst>
          </a:prstGeom>
          <a:solidFill>
            <a:srgbClr val="1E2A78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2779776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184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Art. 6 + Annex III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607808" y="2761488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Classification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17920" y="3136392"/>
            <a:ext cx="5102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scoring, AML, robo-advisory → HIGH RISK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80760" y="3657600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17920" y="3749040"/>
            <a:ext cx="1298448" cy="310896"/>
          </a:xfrm>
          <a:prstGeom prst="roundRect">
            <a:avLst>
              <a:gd name="adj" fmla="val 11765"/>
            </a:avLst>
          </a:prstGeom>
          <a:solidFill>
            <a:srgbClr val="1E2A78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0" y="374904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184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Art. 9–15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607808" y="3730752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Obligations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217920" y="4105656"/>
            <a:ext cx="5102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Conformity, data governance, audit logs, human oversight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080760" y="4626864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17920" y="4718304"/>
            <a:ext cx="1298448" cy="310896"/>
          </a:xfrm>
          <a:prstGeom prst="roundRect">
            <a:avLst>
              <a:gd name="adj" fmla="val 11765"/>
            </a:avLst>
          </a:prstGeom>
          <a:solidFill>
            <a:srgbClr val="1E2A78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17920" y="4718304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184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Art. 50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607808" y="4700016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217920" y="5074920"/>
            <a:ext cx="5102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Chatbots, deepfakes, emotion AI must disclose AI nature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080760" y="5596128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17920" y="5687568"/>
            <a:ext cx="1298448" cy="310896"/>
          </a:xfrm>
          <a:prstGeom prst="roundRect">
            <a:avLst>
              <a:gd name="adj" fmla="val 11765"/>
            </a:avLst>
          </a:prstGeom>
          <a:solidFill>
            <a:srgbClr val="1E2A78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17920" y="568756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184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Art. 51–56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607808" y="5669280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GPAI Models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217920" y="6044184"/>
            <a:ext cx="5102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models: documentation, red-teaming, incident reporting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65760" y="6638544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 ·  Deutsche Bank Global Hackathon 2026  ·  9 of 12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solidFill>
            <a:srgbClr val="3A8FC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2743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A8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88720" y="493776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Data Flow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3611880" cy="47091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261872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0069B1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26187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LAYER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2024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 CMDB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633472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3347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WALTZ System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346704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4670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 Portal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059936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5993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BaFin / ECB Feed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773168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77316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Monitor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486400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48640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Registry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34840" y="1115568"/>
            <a:ext cx="3611880" cy="47091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44568" y="1261872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44568" y="126187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ENGINE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1920240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192024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 Classifier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17720" y="2633472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263347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Risk Mapper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17720" y="3346704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334670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Detector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17720" y="4059936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405993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Analyser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17720" y="4773168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477316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 Report Generator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503920" y="1115568"/>
            <a:ext cx="3611880" cy="47091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13648" y="1261872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13648" y="126187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LAYER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686800" y="1920240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0" y="192024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Dashboard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686800" y="2633472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0" y="263347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 Tasks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686800" y="3346704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0" y="334670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Reports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686800" y="4059936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86800" y="405993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(Immutable)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686800" y="4773168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86800" y="477316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CISO / ITAO Alerts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133088" y="318211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8202168" y="318211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365760" y="5961888"/>
            <a:ext cx="11430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5961888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Sovereign Architecture: Azure EU Regions (Frankfurt · Amsterdam)  ·  No data egress outside EU  ·  AI Act Art. 10 compliant  ·  Claude Sonnet 4.6 AI Engine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65760" y="6638544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 ·  Deutsche Bank Global Hackathon 2026  ·  7 of 12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solidFill>
            <a:srgbClr val="3A8FC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2743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A8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88720" y="493776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Real DB Applications — Live in the Workstation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1143000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298448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0069B1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29844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184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APP-2841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65960" y="12801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Credit Intelligence Platform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65960" y="162763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&amp; Commercial Bank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52360" y="1298448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AA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52360" y="12984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HIGH RISK AI · CRITICAL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30352" y="1956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XGBoost scoring model · SHAP explainability layer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0352" y="223113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Infra: Azure EU Frankfurt/Amsterdam · 99.95% SLA · Dual active-active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52360" y="1773936"/>
            <a:ext cx="42245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5 incidents including P1 model drift (14,200 users affected)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962656"/>
            <a:ext cx="1143000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3145536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14553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184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APP-1193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65960" y="312724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AML Transaction Surveillance Engine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965960" y="34747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Bank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452360" y="3145536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AA22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314553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HIGH RISK AI · CRITICAL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30352" y="380390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Graph Neural Network (GNN) · Anomaly detection ensemble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0352" y="407822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Infra: Azure EU Frankfurt · 99.99% SLA · Zero RPO synchronous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52360" y="3621024"/>
            <a:ext cx="42245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4 incidents including P1 23-min screening gap + P2 false positive spike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809744"/>
            <a:ext cx="1143000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4992624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3A8FCC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499262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184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APP-3307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965960" y="4974336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Wealth Robo-Adviser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965960" y="532180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Bank (DB Anlageassistent)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452360" y="4992624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AA22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52360" y="4992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HIGH RISK AI · IMPORTANT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30352" y="56509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Mean-variance optimisation · RL rebalancing agent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0352" y="592531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Infra: Azure EU Frankfurt · 99.9% SLA · MiFID II 5yr retention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452360" y="5468112"/>
            <a:ext cx="42245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3 incidents including P2 RL suitability breach (128 clients affected)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65760" y="6638544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 ·  Deutsche Bank Global Hackathon 2026  ·  11 of 12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solidFill>
            <a:srgbClr val="3A8FC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2743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A8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88720" y="493776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&amp; AI Model Details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373075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70432"/>
            <a:ext cx="3730752" cy="73152"/>
          </a:xfrm>
          <a:prstGeom prst="rect">
            <a:avLst/>
          </a:prstGeom>
          <a:solidFill>
            <a:srgbClr val="0069B1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353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24128" y="135331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React 18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30428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TypeScript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68833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CSS-in-JS (inline styles)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07238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Responsive layout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0" y="1170432"/>
            <a:ext cx="373075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1170432"/>
            <a:ext cx="3730752" cy="7315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2272" y="1353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56048" y="135331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80560" y="19202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Claude Sonnet 4.6 (Anthropic)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80560" y="230428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3 sequential API calls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80560" y="268833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4,000 max tokens per call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80560" y="307238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JSON schema enforcement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29600" y="1170432"/>
            <a:ext cx="373075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1170432"/>
            <a:ext cx="3730752" cy="73152"/>
          </a:xfrm>
          <a:prstGeom prst="rect">
            <a:avLst/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94192" y="1353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887968" y="135331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Integration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12480" y="19202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ServiceNow CMDB REST API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0" y="230428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WALTZ logical flow system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12480" y="268833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NAR Portal application registry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0" y="307238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Mock API (drop-in ready)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776472"/>
            <a:ext cx="373075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776472"/>
            <a:ext cx="3730752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24128" y="395935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Coverage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4526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DORA Art. 5–45 (all 5 pillars)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49103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EU AI Act Art. 5–56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529437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Annex III high-risk classification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567842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BaFin &amp; ECB reporting formats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297680" y="3776472"/>
            <a:ext cx="373075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97680" y="3776472"/>
            <a:ext cx="3730752" cy="731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62272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4956048" y="395935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480560" y="4526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Azure EU (Frankfurt / Amsterdam)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480560" y="49103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No cross-border data transfer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480560" y="529437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99.95% SLA target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480560" y="567842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ISO 27001 · SOC 2 Type II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229600" y="3776472"/>
            <a:ext cx="373075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29600" y="3776472"/>
            <a:ext cx="3730752" cy="73152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94192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8887968" y="395935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Pattern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412480" y="4526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Stateless React SPA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412480" y="49103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Sequential agentic AI calls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412480" y="529437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extractJSON repair function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412480" y="567842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Dynamic mock data generator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65760" y="6638544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 ·  Deutsche Bank Global Hackathon 2026  ·  8 of 12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1097280"/>
            <a:ext cx="5486400" cy="5486400"/>
          </a:xfrm>
          <a:prstGeom prst="ellipse">
            <a:avLst/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-274320"/>
            <a:ext cx="3657600" cy="3657600"/>
          </a:xfrm>
          <a:prstGeom prst="ellipse">
            <a:avLst/>
          </a:prstGeom>
          <a:solidFill>
            <a:srgbClr val="D6E8F5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5120640"/>
            <a:ext cx="3200400" cy="3200400"/>
          </a:xfrm>
          <a:prstGeom prst="ellipse">
            <a:avLst/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74320"/>
            <a:ext cx="658368" cy="475488"/>
          </a:xfrm>
          <a:prstGeom prst="rect">
            <a:avLst/>
          </a:prstGeom>
          <a:solidFill>
            <a:srgbClr val="3A8FC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 doesn't need to import</a:t>
            </a:r>
            <a:endParaRPr lang="en-US" sz="3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compliance.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needs to build it.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is Deutsche Bank's answer to that challenge —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Europe's answer to sovereign, trustworthy, AI-native compliance.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736592"/>
            <a:ext cx="2377440" cy="1508760"/>
          </a:xfrm>
          <a:prstGeom prst="roundRect">
            <a:avLst>
              <a:gd name="adj" fmla="val 6061"/>
            </a:avLst>
          </a:prstGeom>
          <a:solidFill>
            <a:srgbClr val="1E2A78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4736592"/>
            <a:ext cx="2377440" cy="73152"/>
          </a:xfrm>
          <a:prstGeom prst="rect">
            <a:avLst/>
          </a:prstGeom>
          <a:solidFill>
            <a:srgbClr val="3A8FCC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919472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Demo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376672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live right now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35808" y="4736592"/>
            <a:ext cx="2377440" cy="1508760"/>
          </a:xfrm>
          <a:prstGeom prst="roundRect">
            <a:avLst>
              <a:gd name="adj" fmla="val 6061"/>
            </a:avLst>
          </a:prstGeom>
          <a:solidFill>
            <a:srgbClr val="1E2A78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35808" y="4736592"/>
            <a:ext cx="2377440" cy="7315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27248" y="4919472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the Pilot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27248" y="5376672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Banking Germany · Q3 2026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14416" y="4736592"/>
            <a:ext cx="2377440" cy="1508760"/>
          </a:xfrm>
          <a:prstGeom prst="roundRect">
            <a:avLst>
              <a:gd name="adj" fmla="val 6061"/>
            </a:avLst>
          </a:prstGeom>
          <a:solidFill>
            <a:srgbClr val="1E2A78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14416" y="4736592"/>
            <a:ext cx="2377440" cy="731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05856" y="4919472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Platform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05856" y="5376672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 a co-development partner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6382512"/>
            <a:ext cx="77724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B0CC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38251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08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github.com/nparchure-art/regsentinel-ai  ·  Deutsche Bank Global Hackathon 2026  ·  Track: Risk &amp; Compliance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5760" y="6638544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 ·  Deutsche Bank Global Hackathon 2026  ·  12 of 12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1441</Words>
  <Application>Microsoft Office PowerPoint</Application>
  <PresentationFormat>Widescreen</PresentationFormat>
  <Paragraphs>276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Nikhil Parchure</cp:lastModifiedBy>
  <cp:revision>3</cp:revision>
  <dcterms:created xsi:type="dcterms:W3CDTF">2026-07-23T16:37:55Z</dcterms:created>
  <dcterms:modified xsi:type="dcterms:W3CDTF">2026-07-23T17:37:25Z</dcterms:modified>
</cp:coreProperties>
</file>